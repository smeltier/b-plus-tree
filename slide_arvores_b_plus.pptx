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slide+xml" PartName="/ppt/slides/slide61.xml"/>
  <Override ContentType="application/vnd.openxmlformats-officedocument.presentationml.slide+xml" PartName="/ppt/slides/slide62.xml"/>
  <Override ContentType="application/vnd.openxmlformats-officedocument.presentationml.slide+xml" PartName="/ppt/slides/slide63.xml"/>
  <Override ContentType="application/vnd.openxmlformats-officedocument.presentationml.slide+xml" PartName="/ppt/slides/slide64.xml"/>
  <Override ContentType="application/vnd.openxmlformats-officedocument.presentationml.slide+xml" PartName="/ppt/slides/slide65.xml"/>
  <Override ContentType="application/vnd.openxmlformats-officedocument.presentationml.slide+xml" PartName="/ppt/slides/slide66.xml"/>
  <Override ContentType="application/vnd.openxmlformats-officedocument.presentationml.slide+xml" PartName="/ppt/slides/slide67.xml"/>
  <Override ContentType="application/vnd.openxmlformats-officedocument.presentationml.slide+xml" PartName="/ppt/slides/slide68.xml"/>
  <Override ContentType="application/vnd.openxmlformats-officedocument.presentationml.slide+xml" PartName="/ppt/slides/slide69.xml"/>
  <Override ContentType="application/vnd.openxmlformats-officedocument.presentationml.slide+xml" PartName="/ppt/slides/slide7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</p:sldIdLst>
  <p:sldSz cx="18288000" cy="10287000"/>
  <p:notesSz cx="6858000" cy="9144000"/>
  <p:embeddedFontLst>
    <p:embeddedFont>
      <p:font typeface="Times New Roman MT Bold" charset="1" panose="02030802070405020303"/>
      <p:regular r:id="rId76"/>
    </p:embeddedFont>
    <p:embeddedFont>
      <p:font typeface="Times New Roman MT" charset="1" panose="02030502070405020303"/>
      <p:regular r:id="rId77"/>
    </p:embeddedFont>
    <p:embeddedFont>
      <p:font typeface="Times New Roman MT Bold Italics" charset="1" panose="02030802070405090303"/>
      <p:regular r:id="rId78"/>
    </p:embeddedFont>
    <p:embeddedFont>
      <p:font typeface="Times New Roman MT Italics" charset="1" panose="02030502070405090303"/>
      <p:regular r:id="rId7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slides/slide58.xml" Type="http://schemas.openxmlformats.org/officeDocument/2006/relationships/slide"/><Relationship Id="rId64" Target="slides/slide59.xml" Type="http://schemas.openxmlformats.org/officeDocument/2006/relationships/slide"/><Relationship Id="rId65" Target="slides/slide60.xml" Type="http://schemas.openxmlformats.org/officeDocument/2006/relationships/slide"/><Relationship Id="rId66" Target="slides/slide61.xml" Type="http://schemas.openxmlformats.org/officeDocument/2006/relationships/slide"/><Relationship Id="rId67" Target="slides/slide62.xml" Type="http://schemas.openxmlformats.org/officeDocument/2006/relationships/slide"/><Relationship Id="rId68" Target="slides/slide63.xml" Type="http://schemas.openxmlformats.org/officeDocument/2006/relationships/slide"/><Relationship Id="rId69" Target="slides/slide64.xml" Type="http://schemas.openxmlformats.org/officeDocument/2006/relationships/slide"/><Relationship Id="rId7" Target="slides/slide2.xml" Type="http://schemas.openxmlformats.org/officeDocument/2006/relationships/slide"/><Relationship Id="rId70" Target="slides/slide65.xml" Type="http://schemas.openxmlformats.org/officeDocument/2006/relationships/slide"/><Relationship Id="rId71" Target="slides/slide66.xml" Type="http://schemas.openxmlformats.org/officeDocument/2006/relationships/slide"/><Relationship Id="rId72" Target="slides/slide67.xml" Type="http://schemas.openxmlformats.org/officeDocument/2006/relationships/slide"/><Relationship Id="rId73" Target="slides/slide68.xml" Type="http://schemas.openxmlformats.org/officeDocument/2006/relationships/slide"/><Relationship Id="rId74" Target="slides/slide69.xml" Type="http://schemas.openxmlformats.org/officeDocument/2006/relationships/slide"/><Relationship Id="rId75" Target="slides/slide70.xml" Type="http://schemas.openxmlformats.org/officeDocument/2006/relationships/slide"/><Relationship Id="rId76" Target="fonts/font76.fntdata" Type="http://schemas.openxmlformats.org/officeDocument/2006/relationships/font"/><Relationship Id="rId77" Target="fonts/font77.fntdata" Type="http://schemas.openxmlformats.org/officeDocument/2006/relationships/font"/><Relationship Id="rId78" Target="fonts/font78.fntdata" Type="http://schemas.openxmlformats.org/officeDocument/2006/relationships/font"/><Relationship Id="rId79" Target="fonts/font79.fntdata" Type="http://schemas.openxmlformats.org/officeDocument/2006/relationships/font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/Relationships>
</file>

<file path=ppt/slides/_rels/slide6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/Relationships>
</file>

<file path=ppt/slides/_rels/slide6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6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Relationship Id="rId3" Target="../media/image31.png" Type="http://schemas.openxmlformats.org/officeDocument/2006/relationships/image"/><Relationship Id="rId4" Target="../media/image32.png" Type="http://schemas.openxmlformats.org/officeDocument/2006/relationships/image"/><Relationship Id="rId5" Target="../media/image33.png" Type="http://schemas.openxmlformats.org/officeDocument/2006/relationships/image"/></Relationships>
</file>

<file path=ppt/slides/_rels/slide6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731594" y="3865009"/>
            <a:ext cx="6824811" cy="213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49"/>
              </a:lnSpc>
              <a:spcBef>
                <a:spcPct val="0"/>
              </a:spcBef>
            </a:pPr>
            <a:r>
              <a:rPr lang="en-US" b="true" sz="11249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Árvores B+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136085" y="8762365"/>
            <a:ext cx="401582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Gabriel Gonçalves de Castro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081141" y="923925"/>
            <a:ext cx="8125718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Centro Federal de Educação Tecnológica de Minas Gerais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04875"/>
            <a:ext cx="1448693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Sumário: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557145"/>
            <a:ext cx="7231112" cy="5067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Criação - 1</a:t>
            </a:r>
          </a:p>
          <a:p>
            <a:pPr algn="just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Estrutura - 4</a:t>
            </a:r>
          </a:p>
          <a:p>
            <a:pPr algn="just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Propriedades - 9</a:t>
            </a:r>
          </a:p>
          <a:p>
            <a:pPr algn="just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Operações Fundamentais e Implementação - 17</a:t>
            </a:r>
          </a:p>
          <a:p>
            <a:pPr algn="just" marL="1122681" indent="-374227" lvl="2">
              <a:lnSpc>
                <a:spcPts val="3640"/>
              </a:lnSpc>
              <a:buFont typeface="Arial"/>
              <a:buChar char="⚬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Busca - 18</a:t>
            </a:r>
          </a:p>
          <a:p>
            <a:pPr algn="just" marL="1122681" indent="-374227" lvl="2">
              <a:lnSpc>
                <a:spcPts val="3640"/>
              </a:lnSpc>
              <a:buFont typeface="Arial"/>
              <a:buChar char="⚬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Inserção - 20</a:t>
            </a:r>
          </a:p>
          <a:p>
            <a:pPr algn="just" marL="1122681" indent="-374227" lvl="2">
              <a:lnSpc>
                <a:spcPts val="3640"/>
              </a:lnSpc>
              <a:buFont typeface="Arial"/>
              <a:buChar char="⚬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Remoção - 40</a:t>
            </a:r>
          </a:p>
          <a:p>
            <a:pPr algn="just" marL="1122681" indent="-374227" lvl="2">
              <a:lnSpc>
                <a:spcPts val="3640"/>
              </a:lnSpc>
              <a:buFont typeface="Arial"/>
              <a:buChar char="⚬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Busca em Intervalo (Range Query) - 60</a:t>
            </a:r>
          </a:p>
          <a:p>
            <a:pPr algn="just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Aplicações - 62</a:t>
            </a:r>
          </a:p>
          <a:p>
            <a:pPr algn="just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Exemplos - 64</a:t>
            </a:r>
          </a:p>
          <a:p>
            <a:pPr algn="just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Referências - 68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777410" y="3865009"/>
            <a:ext cx="4733181" cy="213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49"/>
              </a:lnSpc>
              <a:spcBef>
                <a:spcPct val="0"/>
              </a:spcBef>
            </a:pPr>
            <a:r>
              <a:rPr lang="en-US" b="true" sz="11249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Criação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7094101" y="8762365"/>
            <a:ext cx="16519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</a:t>
            </a: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954377" y="2275816"/>
            <a:ext cx="8375323" cy="5735368"/>
          </a:xfrm>
          <a:custGeom>
            <a:avLst/>
            <a:gdLst/>
            <a:ahLst/>
            <a:cxnLst/>
            <a:rect r="r" b="b" t="t" l="l"/>
            <a:pathLst>
              <a:path h="5735368" w="8375323">
                <a:moveTo>
                  <a:pt x="0" y="0"/>
                </a:moveTo>
                <a:lnTo>
                  <a:pt x="8375323" y="0"/>
                </a:lnTo>
                <a:lnTo>
                  <a:pt x="8375323" y="5735368"/>
                </a:lnTo>
                <a:lnTo>
                  <a:pt x="0" y="57353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94705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88297" y="3517623"/>
            <a:ext cx="3251755" cy="3251755"/>
          </a:xfrm>
          <a:custGeom>
            <a:avLst/>
            <a:gdLst/>
            <a:ahLst/>
            <a:cxnLst/>
            <a:rect r="r" b="b" t="t" l="l"/>
            <a:pathLst>
              <a:path h="3251755" w="3251755">
                <a:moveTo>
                  <a:pt x="0" y="0"/>
                </a:moveTo>
                <a:lnTo>
                  <a:pt x="3251755" y="0"/>
                </a:lnTo>
                <a:lnTo>
                  <a:pt x="3251755" y="3251754"/>
                </a:lnTo>
                <a:lnTo>
                  <a:pt x="0" y="32517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647948" y="3517623"/>
            <a:ext cx="3251755" cy="3251755"/>
          </a:xfrm>
          <a:custGeom>
            <a:avLst/>
            <a:gdLst/>
            <a:ahLst/>
            <a:cxnLst/>
            <a:rect r="r" b="b" t="t" l="l"/>
            <a:pathLst>
              <a:path h="3251755" w="3251755">
                <a:moveTo>
                  <a:pt x="0" y="0"/>
                </a:moveTo>
                <a:lnTo>
                  <a:pt x="3251755" y="0"/>
                </a:lnTo>
                <a:lnTo>
                  <a:pt x="3251755" y="3251754"/>
                </a:lnTo>
                <a:lnTo>
                  <a:pt x="0" y="32517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7094101" y="8762365"/>
            <a:ext cx="16519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713214" y="6859562"/>
            <a:ext cx="3121223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Edward M. Macreight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66139" y="6859562"/>
            <a:ext cx="189607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Rudolf Bayer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915835"/>
            <a:ext cx="136564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Criação: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325038" y="3076688"/>
            <a:ext cx="3730708" cy="4133624"/>
          </a:xfrm>
          <a:custGeom>
            <a:avLst/>
            <a:gdLst/>
            <a:ahLst/>
            <a:cxnLst/>
            <a:rect r="r" b="b" t="t" l="l"/>
            <a:pathLst>
              <a:path h="4133624" w="3730708">
                <a:moveTo>
                  <a:pt x="0" y="0"/>
                </a:moveTo>
                <a:lnTo>
                  <a:pt x="3730708" y="0"/>
                </a:lnTo>
                <a:lnTo>
                  <a:pt x="3730708" y="4133624"/>
                </a:lnTo>
                <a:lnTo>
                  <a:pt x="0" y="41336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957949" y="1496860"/>
            <a:ext cx="5005013" cy="7293279"/>
          </a:xfrm>
          <a:custGeom>
            <a:avLst/>
            <a:gdLst/>
            <a:ahLst/>
            <a:cxnLst/>
            <a:rect r="r" b="b" t="t" l="l"/>
            <a:pathLst>
              <a:path h="7293279" w="5005013">
                <a:moveTo>
                  <a:pt x="0" y="0"/>
                </a:moveTo>
                <a:lnTo>
                  <a:pt x="5005013" y="0"/>
                </a:lnTo>
                <a:lnTo>
                  <a:pt x="5005013" y="7293280"/>
                </a:lnTo>
                <a:lnTo>
                  <a:pt x="0" y="729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7094101" y="8762365"/>
            <a:ext cx="16519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15835"/>
            <a:ext cx="136564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Criação:</a:t>
            </a: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094101" y="8762365"/>
            <a:ext cx="16519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310238" y="3865009"/>
            <a:ext cx="5667524" cy="213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49"/>
              </a:lnSpc>
              <a:spcBef>
                <a:spcPct val="0"/>
              </a:spcBef>
            </a:pPr>
            <a:r>
              <a:rPr lang="en-US" b="true" sz="11249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04875"/>
            <a:ext cx="1614785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Estrutura: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790825" y="2631210"/>
            <a:ext cx="8944868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Seja 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uma árvore B+ composta por nós, sendo 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T.raiz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o nó raiz.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7094101" y="8762365"/>
            <a:ext cx="16519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04875"/>
            <a:ext cx="1614785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Estrutura: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790825" y="2631210"/>
            <a:ext cx="8944868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Seja 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uma árvore B+ composta por nós, sendo 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T.raiz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o nó raiz.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790825" y="3244445"/>
            <a:ext cx="12706350" cy="1867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odo nó 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x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pertencente a 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possui os seguintes at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ri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butos basicos:</a:t>
            </a:r>
          </a:p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x.n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número de chaves armazenadas em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x.</a:t>
            </a:r>
          </a:p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x.chave_1 ≤ x.chave_2 ≤ ... ≤ x.chave_x.n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 as chaves armazenadas em ordem crescente.</a:t>
            </a:r>
          </a:p>
          <a:p>
            <a:pPr algn="l" marL="561341" indent="-280670" lvl="1">
              <a:lnSpc>
                <a:spcPts val="364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x.folha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um valor booleano que indica se x e um n ´ o folha.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094101" y="8762365"/>
            <a:ext cx="16519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04875"/>
            <a:ext cx="1614785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Estrutura: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790825" y="2631210"/>
            <a:ext cx="8944868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Seja 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uma árvore B+ composta por nós, sendo 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T.raiz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o nó raiz.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790825" y="3244445"/>
            <a:ext cx="12706350" cy="1867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odo nó 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x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pertencente a 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possui os seguintes at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ri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butos basicos:</a:t>
            </a:r>
          </a:p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x.n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número de chaves armazenadas em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x.</a:t>
            </a:r>
          </a:p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x.chave_1 ≤ x.chave_2 ≤ ... ≤ x.chave_x.n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 as chaves armazenadas em ordem crescente.</a:t>
            </a:r>
          </a:p>
          <a:p>
            <a:pPr algn="l" marL="561341" indent="-280670" lvl="1">
              <a:lnSpc>
                <a:spcPts val="364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x.folha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um valor booleano que indica se x e um n ´ o folha.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90825" y="5226280"/>
            <a:ext cx="12706350" cy="278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 estrutura complementar de x depende do seu tipo: </a:t>
            </a:r>
          </a:p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Caso x seja um no inte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rn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 (x.folha = FALSO): Possui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x.n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+1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ponteiros para seus filhos, denotados por 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x.fil</a:t>
            </a:r>
            <a:r>
              <a:rPr lang="en-US" b="true" sz="2600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ho_1, x.filho_2, . . . , x.filho_x.n+1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.</a:t>
            </a:r>
          </a:p>
          <a:p>
            <a:pPr algn="l" marL="561341" indent="-280670" lvl="1">
              <a:lnSpc>
                <a:spcPts val="3640"/>
              </a:lnSpc>
              <a:spcBef>
                <a:spcPct val="0"/>
              </a:spcBef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Caso x seja um no folha (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x.folha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= VERDADEIRO): Possui um ponteiro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x.proximo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que aponta para o próximo nó folha à direita (lista ligada). Também possui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x.n dados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armazenados, referente as chaves.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094101" y="8762365"/>
            <a:ext cx="16519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7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927765" y="1977240"/>
            <a:ext cx="8432470" cy="2793256"/>
          </a:xfrm>
          <a:custGeom>
            <a:avLst/>
            <a:gdLst/>
            <a:ahLst/>
            <a:cxnLst/>
            <a:rect r="r" b="b" t="t" l="l"/>
            <a:pathLst>
              <a:path h="2793256" w="8432470">
                <a:moveTo>
                  <a:pt x="0" y="0"/>
                </a:moveTo>
                <a:lnTo>
                  <a:pt x="8432470" y="0"/>
                </a:lnTo>
                <a:lnTo>
                  <a:pt x="8432470" y="2793255"/>
                </a:lnTo>
                <a:lnTo>
                  <a:pt x="0" y="27932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017634" y="5454315"/>
            <a:ext cx="8252731" cy="2855445"/>
          </a:xfrm>
          <a:custGeom>
            <a:avLst/>
            <a:gdLst/>
            <a:ahLst/>
            <a:cxnLst/>
            <a:rect r="r" b="b" t="t" l="l"/>
            <a:pathLst>
              <a:path h="2855445" w="8252731">
                <a:moveTo>
                  <a:pt x="0" y="0"/>
                </a:moveTo>
                <a:lnTo>
                  <a:pt x="8252732" y="0"/>
                </a:lnTo>
                <a:lnTo>
                  <a:pt x="8252732" y="2855445"/>
                </a:lnTo>
                <a:lnTo>
                  <a:pt x="0" y="28554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7094101" y="8762365"/>
            <a:ext cx="16519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8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04875"/>
            <a:ext cx="1614785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Estrutura: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094101" y="8762365"/>
            <a:ext cx="16519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9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258023" y="3865009"/>
            <a:ext cx="7771954" cy="213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49"/>
              </a:lnSpc>
              <a:spcBef>
                <a:spcPct val="0"/>
              </a:spcBef>
            </a:pPr>
            <a:r>
              <a:rPr lang="en-US" b="true" sz="11249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Propriedades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10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614785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518618" y="3427555"/>
            <a:ext cx="10286405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Uma Arvore B+ deve satisfazer as seguintes condições de balanceamento: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04875"/>
            <a:ext cx="1614785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Estrutura: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518618" y="3427555"/>
            <a:ext cx="10286405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Uma Arvore B+ deve satisfazer as seguintes condições de balanceamento: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518618" y="3931180"/>
            <a:ext cx="1227817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Todo caminho do no raiz até um nó folha qualquer deve possuir o mesmo tamanho;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11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04875"/>
            <a:ext cx="1614785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Estrutura: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518618" y="3427555"/>
            <a:ext cx="10286405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Uma Arvore B+ deve satisfazer as seguintes condições de balanceamento: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518618" y="3931180"/>
            <a:ext cx="1325076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Todo caminho do no raiz até um nó folha qualquer deve possuir o mesmo tamanho;</a:t>
            </a:r>
          </a:p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Os nós possuem limites superiores e inferiores para o número de chaves que podem conter.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12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04875"/>
            <a:ext cx="1614785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Estrutura: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518618" y="3427555"/>
            <a:ext cx="10286405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Uma Arvore B+ deve satisfazer as seguintes condições de balanceamento: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518618" y="3931180"/>
            <a:ext cx="13250763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Todo caminho do no raiz até um nó folha qualquer deve possuir o mesmo tamanho;</a:t>
            </a:r>
          </a:p>
          <a:p>
            <a:pPr algn="l" marL="561341" indent="-280670" lvl="1">
              <a:lnSpc>
                <a:spcPts val="3640"/>
              </a:lnSpc>
              <a:buFont typeface="Arial"/>
              <a:buChar char="•"/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Os nós possuem limites superiores e inferiores para o número de chaves que podem conter.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700567" y="5010150"/>
            <a:ext cx="886867" cy="663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88"/>
              </a:lnSpc>
            </a:pPr>
            <a:r>
              <a:rPr lang="en-US" b="true" sz="3491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 ≥ 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728421" y="5520949"/>
            <a:ext cx="2831157" cy="128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88"/>
              </a:lnSpc>
            </a:pPr>
            <a:r>
              <a:rPr lang="en-US" sz="349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Mínimo:</a:t>
            </a:r>
            <a:r>
              <a:rPr lang="en-US" sz="3491" i="true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b="true" sz="3491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 - 1</a:t>
            </a:r>
          </a:p>
          <a:p>
            <a:pPr algn="ctr">
              <a:lnSpc>
                <a:spcPts val="4888"/>
              </a:lnSpc>
            </a:pPr>
            <a:r>
              <a:rPr lang="en-US" sz="349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Máximo</a:t>
            </a:r>
            <a:r>
              <a:rPr lang="en-US" sz="3491" i="true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: </a:t>
            </a:r>
            <a:r>
              <a:rPr lang="en-US" b="true" sz="3491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2t - 1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13</a:t>
            </a:r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166917" y="3746588"/>
            <a:ext cx="13954167" cy="3471099"/>
          </a:xfrm>
          <a:custGeom>
            <a:avLst/>
            <a:gdLst/>
            <a:ahLst/>
            <a:cxnLst/>
            <a:rect r="r" b="b" t="t" l="l"/>
            <a:pathLst>
              <a:path h="3471099" w="13954167">
                <a:moveTo>
                  <a:pt x="0" y="0"/>
                </a:moveTo>
                <a:lnTo>
                  <a:pt x="13954166" y="0"/>
                </a:lnTo>
                <a:lnTo>
                  <a:pt x="13954166" y="3471099"/>
                </a:lnTo>
                <a:lnTo>
                  <a:pt x="0" y="34710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14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904875"/>
            <a:ext cx="1614785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Estrutura: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700567" y="2840028"/>
            <a:ext cx="886867" cy="663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88"/>
              </a:lnSpc>
            </a:pPr>
            <a:r>
              <a:rPr lang="en-US" b="true" sz="3491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 = 2</a:t>
            </a:r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166917" y="3702981"/>
            <a:ext cx="13954167" cy="3610641"/>
          </a:xfrm>
          <a:custGeom>
            <a:avLst/>
            <a:gdLst/>
            <a:ahLst/>
            <a:cxnLst/>
            <a:rect r="r" b="b" t="t" l="l"/>
            <a:pathLst>
              <a:path h="3610641" w="13954167">
                <a:moveTo>
                  <a:pt x="0" y="0"/>
                </a:moveTo>
                <a:lnTo>
                  <a:pt x="13954166" y="0"/>
                </a:lnTo>
                <a:lnTo>
                  <a:pt x="13954166" y="3610641"/>
                </a:lnTo>
                <a:lnTo>
                  <a:pt x="0" y="36106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15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904875"/>
            <a:ext cx="1614785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Estrutura: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700567" y="2840028"/>
            <a:ext cx="886867" cy="663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88"/>
              </a:lnSpc>
            </a:pPr>
            <a:r>
              <a:rPr lang="en-US" b="true" sz="3491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 = 2</a:t>
            </a:r>
          </a:p>
        </p:txBody>
      </p:sp>
    </p:spTree>
  </p:cSld>
  <p:clrMapOvr>
    <a:masterClrMapping/>
  </p:clrMapOvr>
  <p:transition spd="fast">
    <p:fade/>
  </p:transition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166917" y="3833801"/>
            <a:ext cx="13954167" cy="3349000"/>
          </a:xfrm>
          <a:custGeom>
            <a:avLst/>
            <a:gdLst/>
            <a:ahLst/>
            <a:cxnLst/>
            <a:rect r="r" b="b" t="t" l="l"/>
            <a:pathLst>
              <a:path h="3349000" w="13954167">
                <a:moveTo>
                  <a:pt x="0" y="0"/>
                </a:moveTo>
                <a:lnTo>
                  <a:pt x="13954166" y="0"/>
                </a:lnTo>
                <a:lnTo>
                  <a:pt x="13954166" y="3349000"/>
                </a:lnTo>
                <a:lnTo>
                  <a:pt x="0" y="3349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904875"/>
            <a:ext cx="1614785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Estrutura: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700567" y="2840028"/>
            <a:ext cx="886867" cy="663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88"/>
              </a:lnSpc>
            </a:pPr>
            <a:r>
              <a:rPr lang="en-US" b="true" sz="3491" i="true">
                <a:solidFill>
                  <a:srgbClr val="000000"/>
                </a:solidFill>
                <a:latin typeface="Times New Roman MT Bold Italics"/>
                <a:ea typeface="Times New Roman MT Bold Italics"/>
                <a:cs typeface="Times New Roman MT Bold Italics"/>
                <a:sym typeface="Times New Roman MT Bold Italics"/>
              </a:rPr>
              <a:t>t = 2</a:t>
            </a:r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011576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17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96355" y="2867020"/>
            <a:ext cx="15895290" cy="4124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49"/>
              </a:lnSpc>
            </a:pPr>
            <a:r>
              <a:rPr lang="en-US" sz="11249" b="true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Operações Fundamentais e</a:t>
            </a:r>
          </a:p>
          <a:p>
            <a:pPr algn="ctr">
              <a:lnSpc>
                <a:spcPts val="15749"/>
              </a:lnSpc>
              <a:spcBef>
                <a:spcPct val="0"/>
              </a:spcBef>
            </a:pPr>
            <a:r>
              <a:rPr lang="en-US" b="true" sz="11249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Implementações</a:t>
            </a:r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18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365281" y="3862383"/>
            <a:ext cx="3557439" cy="213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49"/>
              </a:lnSpc>
              <a:spcBef>
                <a:spcPct val="0"/>
              </a:spcBef>
            </a:pPr>
            <a:r>
              <a:rPr lang="en-US" b="true" sz="11249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Busca</a:t>
            </a:r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011576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19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05206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Busca: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250454" y="3427509"/>
            <a:ext cx="15787092" cy="4084910"/>
          </a:xfrm>
          <a:custGeom>
            <a:avLst/>
            <a:gdLst/>
            <a:ahLst/>
            <a:cxnLst/>
            <a:rect r="r" b="b" t="t" l="l"/>
            <a:pathLst>
              <a:path h="4084910" w="15787092">
                <a:moveTo>
                  <a:pt x="0" y="0"/>
                </a:moveTo>
                <a:lnTo>
                  <a:pt x="15787092" y="0"/>
                </a:lnTo>
                <a:lnTo>
                  <a:pt x="15787092" y="4084910"/>
                </a:lnTo>
                <a:lnTo>
                  <a:pt x="0" y="40849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5" id="5"/>
          <p:cNvSpPr txBox="true"/>
          <p:nvPr/>
        </p:nvSpPr>
        <p:spPr>
          <a:xfrm rot="0">
            <a:off x="7428607" y="2669806"/>
            <a:ext cx="3430935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Vamos buscar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21</a:t>
            </a:r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20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21661" y="3862383"/>
            <a:ext cx="5044678" cy="213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49"/>
              </a:lnSpc>
              <a:spcBef>
                <a:spcPct val="0"/>
              </a:spcBef>
            </a:pPr>
            <a:r>
              <a:rPr lang="en-US" b="true" sz="11249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</a:t>
            </a:r>
          </a:p>
        </p:txBody>
      </p:sp>
    </p:spTree>
  </p:cSld>
  <p:clrMapOvr>
    <a:masterClrMapping/>
  </p:clrMapOvr>
  <p:transition spd="fast">
    <p:fade/>
  </p:transition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401222" y="4513374"/>
            <a:ext cx="3485557" cy="1791189"/>
          </a:xfrm>
          <a:custGeom>
            <a:avLst/>
            <a:gdLst/>
            <a:ahLst/>
            <a:cxnLst/>
            <a:rect r="r" b="b" t="t" l="l"/>
            <a:pathLst>
              <a:path h="1791189" w="3485557">
                <a:moveTo>
                  <a:pt x="0" y="0"/>
                </a:moveTo>
                <a:lnTo>
                  <a:pt x="3485556" y="0"/>
                </a:lnTo>
                <a:lnTo>
                  <a:pt x="3485556" y="1791189"/>
                </a:lnTo>
                <a:lnTo>
                  <a:pt x="0" y="17911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737723" y="3877662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10</a:t>
            </a:r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401222" y="4513374"/>
            <a:ext cx="3485557" cy="1791189"/>
          </a:xfrm>
          <a:custGeom>
            <a:avLst/>
            <a:gdLst/>
            <a:ahLst/>
            <a:cxnLst/>
            <a:rect r="r" b="b" t="t" l="l"/>
            <a:pathLst>
              <a:path h="1791189" w="3485557">
                <a:moveTo>
                  <a:pt x="0" y="0"/>
                </a:moveTo>
                <a:lnTo>
                  <a:pt x="3485556" y="0"/>
                </a:lnTo>
                <a:lnTo>
                  <a:pt x="3485556" y="1791189"/>
                </a:lnTo>
                <a:lnTo>
                  <a:pt x="0" y="17911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3877662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20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22</a:t>
            </a:r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429324" y="4495595"/>
            <a:ext cx="3429352" cy="1834305"/>
          </a:xfrm>
          <a:custGeom>
            <a:avLst/>
            <a:gdLst/>
            <a:ahLst/>
            <a:cxnLst/>
            <a:rect r="r" b="b" t="t" l="l"/>
            <a:pathLst>
              <a:path h="1834305" w="3429352">
                <a:moveTo>
                  <a:pt x="0" y="0"/>
                </a:moveTo>
                <a:lnTo>
                  <a:pt x="3429352" y="0"/>
                </a:lnTo>
                <a:lnTo>
                  <a:pt x="3429352" y="1834305"/>
                </a:lnTo>
                <a:lnTo>
                  <a:pt x="0" y="18343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3852325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20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23</a:t>
            </a:r>
          </a:p>
        </p:txBody>
      </p:sp>
    </p:spTree>
  </p:cSld>
  <p:clrMapOvr>
    <a:masterClrMapping/>
  </p:clrMapOvr>
  <p:transition spd="fast">
    <p:fade/>
  </p:transition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429324" y="4495595"/>
            <a:ext cx="3429352" cy="1834305"/>
          </a:xfrm>
          <a:custGeom>
            <a:avLst/>
            <a:gdLst/>
            <a:ahLst/>
            <a:cxnLst/>
            <a:rect r="r" b="b" t="t" l="l"/>
            <a:pathLst>
              <a:path h="1834305" w="3429352">
                <a:moveTo>
                  <a:pt x="0" y="0"/>
                </a:moveTo>
                <a:lnTo>
                  <a:pt x="3429352" y="0"/>
                </a:lnTo>
                <a:lnTo>
                  <a:pt x="3429352" y="1834305"/>
                </a:lnTo>
                <a:lnTo>
                  <a:pt x="0" y="18343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3852325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30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24</a:t>
            </a:r>
          </a:p>
        </p:txBody>
      </p:sp>
    </p:spTree>
  </p:cSld>
  <p:clrMapOvr>
    <a:masterClrMapping/>
  </p:clrMapOvr>
  <p:transition spd="fast">
    <p:fade/>
  </p:transition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708296" y="4663029"/>
            <a:ext cx="2871408" cy="1446663"/>
          </a:xfrm>
          <a:custGeom>
            <a:avLst/>
            <a:gdLst/>
            <a:ahLst/>
            <a:cxnLst/>
            <a:rect r="r" b="b" t="t" l="l"/>
            <a:pathLst>
              <a:path h="1446663" w="2871408">
                <a:moveTo>
                  <a:pt x="0" y="0"/>
                </a:moveTo>
                <a:lnTo>
                  <a:pt x="2871408" y="0"/>
                </a:lnTo>
                <a:lnTo>
                  <a:pt x="2871408" y="1446664"/>
                </a:lnTo>
                <a:lnTo>
                  <a:pt x="0" y="14466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4072532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30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25</a:t>
            </a:r>
          </a:p>
        </p:txBody>
      </p:sp>
    </p:spTree>
  </p:cSld>
  <p:clrMapOvr>
    <a:masterClrMapping/>
  </p:clrMapOvr>
  <p:transition spd="fast">
    <p:fade/>
  </p:transition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708296" y="4663029"/>
            <a:ext cx="2871408" cy="1446663"/>
          </a:xfrm>
          <a:custGeom>
            <a:avLst/>
            <a:gdLst/>
            <a:ahLst/>
            <a:cxnLst/>
            <a:rect r="r" b="b" t="t" l="l"/>
            <a:pathLst>
              <a:path h="1446663" w="2871408">
                <a:moveTo>
                  <a:pt x="0" y="0"/>
                </a:moveTo>
                <a:lnTo>
                  <a:pt x="2871408" y="0"/>
                </a:lnTo>
                <a:lnTo>
                  <a:pt x="2871408" y="1446664"/>
                </a:lnTo>
                <a:lnTo>
                  <a:pt x="0" y="14466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4072532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40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26</a:t>
            </a:r>
          </a:p>
        </p:txBody>
      </p:sp>
    </p:spTree>
  </p:cSld>
  <p:clrMapOvr>
    <a:masterClrMapping/>
  </p:clrMapOvr>
  <p:transition spd="fast">
    <p:fade/>
  </p:transition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146852" y="4076396"/>
            <a:ext cx="5994297" cy="2693733"/>
          </a:xfrm>
          <a:custGeom>
            <a:avLst/>
            <a:gdLst/>
            <a:ahLst/>
            <a:cxnLst/>
            <a:rect r="r" b="b" t="t" l="l"/>
            <a:pathLst>
              <a:path h="2693733" w="5994297">
                <a:moveTo>
                  <a:pt x="0" y="0"/>
                </a:moveTo>
                <a:lnTo>
                  <a:pt x="5994296" y="0"/>
                </a:lnTo>
                <a:lnTo>
                  <a:pt x="5994296" y="2693733"/>
                </a:lnTo>
                <a:lnTo>
                  <a:pt x="0" y="26937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287369" y="3412096"/>
            <a:ext cx="3713262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40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(split)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27</a:t>
            </a:r>
          </a:p>
        </p:txBody>
      </p:sp>
    </p:spTree>
  </p:cSld>
  <p:clrMapOvr>
    <a:masterClrMapping/>
  </p:clrMapOvr>
  <p:transition spd="fast">
    <p:fade/>
  </p:transition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146852" y="4076396"/>
            <a:ext cx="5994297" cy="2693733"/>
          </a:xfrm>
          <a:custGeom>
            <a:avLst/>
            <a:gdLst/>
            <a:ahLst/>
            <a:cxnLst/>
            <a:rect r="r" b="b" t="t" l="l"/>
            <a:pathLst>
              <a:path h="2693733" w="5994297">
                <a:moveTo>
                  <a:pt x="0" y="0"/>
                </a:moveTo>
                <a:lnTo>
                  <a:pt x="5994296" y="0"/>
                </a:lnTo>
                <a:lnTo>
                  <a:pt x="5994296" y="2693733"/>
                </a:lnTo>
                <a:lnTo>
                  <a:pt x="0" y="26937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692926" y="3412096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50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28</a:t>
            </a:r>
          </a:p>
        </p:txBody>
      </p:sp>
    </p:spTree>
  </p:cSld>
  <p:clrMapOvr>
    <a:masterClrMapping/>
  </p:clrMapOvr>
  <p:transition spd="fast">
    <p:fade/>
  </p:transition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928473" y="3922055"/>
            <a:ext cx="6431054" cy="2953977"/>
          </a:xfrm>
          <a:custGeom>
            <a:avLst/>
            <a:gdLst/>
            <a:ahLst/>
            <a:cxnLst/>
            <a:rect r="r" b="b" t="t" l="l"/>
            <a:pathLst>
              <a:path h="2953977" w="6431054">
                <a:moveTo>
                  <a:pt x="0" y="0"/>
                </a:moveTo>
                <a:lnTo>
                  <a:pt x="6431054" y="0"/>
                </a:lnTo>
                <a:lnTo>
                  <a:pt x="6431054" y="2953976"/>
                </a:lnTo>
                <a:lnTo>
                  <a:pt x="0" y="29539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3306194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50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29</a:t>
            </a:r>
          </a:p>
        </p:txBody>
      </p:sp>
    </p:spTree>
  </p:cSld>
  <p:clrMapOvr>
    <a:masterClrMapping/>
  </p:clrMapOvr>
  <p:transition spd="fast">
    <p:fade/>
  </p:transition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928473" y="3922055"/>
            <a:ext cx="6431054" cy="2953977"/>
          </a:xfrm>
          <a:custGeom>
            <a:avLst/>
            <a:gdLst/>
            <a:ahLst/>
            <a:cxnLst/>
            <a:rect r="r" b="b" t="t" l="l"/>
            <a:pathLst>
              <a:path h="2953977" w="6431054">
                <a:moveTo>
                  <a:pt x="0" y="0"/>
                </a:moveTo>
                <a:lnTo>
                  <a:pt x="6431054" y="0"/>
                </a:lnTo>
                <a:lnTo>
                  <a:pt x="6431054" y="2953976"/>
                </a:lnTo>
                <a:lnTo>
                  <a:pt x="0" y="29539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3306194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60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30</a:t>
            </a:r>
          </a:p>
        </p:txBody>
      </p:sp>
    </p:spTree>
  </p:cSld>
  <p:clrMapOvr>
    <a:masterClrMapping/>
  </p:clrMapOvr>
  <p:transition spd="fast">
    <p:fade/>
  </p:transition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754188" y="3879626"/>
            <a:ext cx="10779623" cy="3058405"/>
          </a:xfrm>
          <a:custGeom>
            <a:avLst/>
            <a:gdLst/>
            <a:ahLst/>
            <a:cxnLst/>
            <a:rect r="r" b="b" t="t" l="l"/>
            <a:pathLst>
              <a:path h="3058405" w="10779623">
                <a:moveTo>
                  <a:pt x="0" y="0"/>
                </a:moveTo>
                <a:lnTo>
                  <a:pt x="10779624" y="0"/>
                </a:lnTo>
                <a:lnTo>
                  <a:pt x="10779624" y="3058405"/>
                </a:lnTo>
                <a:lnTo>
                  <a:pt x="0" y="30584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287369" y="3244194"/>
            <a:ext cx="3713113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60 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(split)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31</a:t>
            </a:r>
          </a:p>
        </p:txBody>
      </p:sp>
    </p:spTree>
  </p:cSld>
  <p:clrMapOvr>
    <a:masterClrMapping/>
  </p:clrMapOvr>
  <p:transition spd="fast">
    <p:fade/>
  </p:transition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754188" y="3879626"/>
            <a:ext cx="10779623" cy="3058405"/>
          </a:xfrm>
          <a:custGeom>
            <a:avLst/>
            <a:gdLst/>
            <a:ahLst/>
            <a:cxnLst/>
            <a:rect r="r" b="b" t="t" l="l"/>
            <a:pathLst>
              <a:path h="3058405" w="10779623">
                <a:moveTo>
                  <a:pt x="0" y="0"/>
                </a:moveTo>
                <a:lnTo>
                  <a:pt x="10779624" y="0"/>
                </a:lnTo>
                <a:lnTo>
                  <a:pt x="10779624" y="3058405"/>
                </a:lnTo>
                <a:lnTo>
                  <a:pt x="0" y="30584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3213653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70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32</a:t>
            </a:r>
          </a:p>
        </p:txBody>
      </p:sp>
    </p:spTree>
  </p:cSld>
  <p:clrMapOvr>
    <a:masterClrMapping/>
  </p:clrMapOvr>
  <p:transition spd="fast">
    <p:fade/>
  </p:transition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734499" y="3845239"/>
            <a:ext cx="10819002" cy="3084075"/>
          </a:xfrm>
          <a:custGeom>
            <a:avLst/>
            <a:gdLst/>
            <a:ahLst/>
            <a:cxnLst/>
            <a:rect r="r" b="b" t="t" l="l"/>
            <a:pathLst>
              <a:path h="3084075" w="10819002">
                <a:moveTo>
                  <a:pt x="0" y="0"/>
                </a:moveTo>
                <a:lnTo>
                  <a:pt x="10819002" y="0"/>
                </a:lnTo>
                <a:lnTo>
                  <a:pt x="10819002" y="3084075"/>
                </a:lnTo>
                <a:lnTo>
                  <a:pt x="0" y="30840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3252911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70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33</a:t>
            </a:r>
          </a:p>
        </p:txBody>
      </p:sp>
    </p:spTree>
  </p:cSld>
  <p:clrMapOvr>
    <a:masterClrMapping/>
  </p:clrMapOvr>
  <p:transition spd="fast">
    <p:fade/>
  </p:transition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734499" y="3845239"/>
            <a:ext cx="10819002" cy="3084075"/>
          </a:xfrm>
          <a:custGeom>
            <a:avLst/>
            <a:gdLst/>
            <a:ahLst/>
            <a:cxnLst/>
            <a:rect r="r" b="b" t="t" l="l"/>
            <a:pathLst>
              <a:path h="3084075" w="10819002">
                <a:moveTo>
                  <a:pt x="0" y="0"/>
                </a:moveTo>
                <a:lnTo>
                  <a:pt x="10819002" y="0"/>
                </a:lnTo>
                <a:lnTo>
                  <a:pt x="10819002" y="3084075"/>
                </a:lnTo>
                <a:lnTo>
                  <a:pt x="0" y="30840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3252911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80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34</a:t>
            </a:r>
          </a:p>
        </p:txBody>
      </p:sp>
    </p:spTree>
  </p:cSld>
  <p:clrMapOvr>
    <a:masterClrMapping/>
  </p:clrMapOvr>
  <p:transition spd="fast">
    <p:fade/>
  </p:transition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4234402"/>
            <a:ext cx="11301259" cy="2316758"/>
          </a:xfrm>
          <a:custGeom>
            <a:avLst/>
            <a:gdLst/>
            <a:ahLst/>
            <a:cxnLst/>
            <a:rect r="r" b="b" t="t" l="l"/>
            <a:pathLst>
              <a:path h="2316758" w="11301259">
                <a:moveTo>
                  <a:pt x="0" y="0"/>
                </a:moveTo>
                <a:lnTo>
                  <a:pt x="11301258" y="0"/>
                </a:lnTo>
                <a:lnTo>
                  <a:pt x="11301258" y="2316758"/>
                </a:lnTo>
                <a:lnTo>
                  <a:pt x="0" y="23167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287444" y="3631065"/>
            <a:ext cx="3713113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80 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(split)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35</a:t>
            </a:r>
          </a:p>
        </p:txBody>
      </p:sp>
    </p:spTree>
  </p:cSld>
  <p:clrMapOvr>
    <a:masterClrMapping/>
  </p:clrMapOvr>
  <p:transition spd="fast">
    <p:fade/>
  </p:transition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4234402"/>
            <a:ext cx="11301259" cy="2316758"/>
          </a:xfrm>
          <a:custGeom>
            <a:avLst/>
            <a:gdLst/>
            <a:ahLst/>
            <a:cxnLst/>
            <a:rect r="r" b="b" t="t" l="l"/>
            <a:pathLst>
              <a:path h="2316758" w="11301259">
                <a:moveTo>
                  <a:pt x="0" y="0"/>
                </a:moveTo>
                <a:lnTo>
                  <a:pt x="11301258" y="0"/>
                </a:lnTo>
                <a:lnTo>
                  <a:pt x="11301258" y="2316758"/>
                </a:lnTo>
                <a:lnTo>
                  <a:pt x="0" y="23167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3631065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80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36</a:t>
            </a:r>
          </a:p>
        </p:txBody>
      </p:sp>
    </p:spTree>
  </p:cSld>
  <p:clrMapOvr>
    <a:masterClrMapping/>
  </p:clrMapOvr>
  <p:transition spd="fast">
    <p:fade/>
  </p:transition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4256076"/>
            <a:ext cx="11301259" cy="2274378"/>
          </a:xfrm>
          <a:custGeom>
            <a:avLst/>
            <a:gdLst/>
            <a:ahLst/>
            <a:cxnLst/>
            <a:rect r="r" b="b" t="t" l="l"/>
            <a:pathLst>
              <a:path h="2274378" w="11301259">
                <a:moveTo>
                  <a:pt x="0" y="0"/>
                </a:moveTo>
                <a:lnTo>
                  <a:pt x="11301258" y="0"/>
                </a:lnTo>
                <a:lnTo>
                  <a:pt x="11301258" y="2274378"/>
                </a:lnTo>
                <a:lnTo>
                  <a:pt x="0" y="22743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737723" y="3621229"/>
            <a:ext cx="281255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90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37</a:t>
            </a:r>
          </a:p>
        </p:txBody>
      </p:sp>
    </p:spTree>
  </p:cSld>
  <p:clrMapOvr>
    <a:masterClrMapping/>
  </p:clrMapOvr>
  <p:transition spd="fast">
    <p:fade/>
  </p:transition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4256076"/>
            <a:ext cx="11301259" cy="2274378"/>
          </a:xfrm>
          <a:custGeom>
            <a:avLst/>
            <a:gdLst/>
            <a:ahLst/>
            <a:cxnLst/>
            <a:rect r="r" b="b" t="t" l="l"/>
            <a:pathLst>
              <a:path h="2274378" w="11301259">
                <a:moveTo>
                  <a:pt x="0" y="0"/>
                </a:moveTo>
                <a:lnTo>
                  <a:pt x="11301258" y="0"/>
                </a:lnTo>
                <a:lnTo>
                  <a:pt x="11301258" y="2274378"/>
                </a:lnTo>
                <a:lnTo>
                  <a:pt x="0" y="22743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655198" y="3621229"/>
            <a:ext cx="297760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100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38</a:t>
            </a:r>
          </a:p>
        </p:txBody>
      </p:sp>
    </p:spTree>
  </p:cSld>
  <p:clrMapOvr>
    <a:masterClrMapping/>
  </p:clrMapOvr>
  <p:transition spd="fast">
    <p:fade/>
  </p:transition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563320"/>
            <a:ext cx="11301259" cy="3672909"/>
          </a:xfrm>
          <a:custGeom>
            <a:avLst/>
            <a:gdLst/>
            <a:ahLst/>
            <a:cxnLst/>
            <a:rect r="r" b="b" t="t" l="l"/>
            <a:pathLst>
              <a:path h="3672909" w="11301259">
                <a:moveTo>
                  <a:pt x="0" y="0"/>
                </a:moveTo>
                <a:lnTo>
                  <a:pt x="11301258" y="0"/>
                </a:lnTo>
                <a:lnTo>
                  <a:pt x="11301258" y="3672909"/>
                </a:lnTo>
                <a:lnTo>
                  <a:pt x="0" y="36729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440656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Inserção: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287444" y="2945996"/>
            <a:ext cx="3878163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Inserindo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100 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(split)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39</a:t>
            </a:r>
          </a:p>
        </p:txBody>
      </p:sp>
    </p:spTree>
  </p:cSld>
  <p:clrMapOvr>
    <a:masterClrMapping/>
  </p:clrMapOvr>
  <p:transition spd="fast">
    <p:fade/>
  </p:transition>
</p:sld>
</file>

<file path=ppt/slides/slide42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382345" y="3862383"/>
            <a:ext cx="5523309" cy="213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49"/>
              </a:lnSpc>
              <a:spcBef>
                <a:spcPct val="0"/>
              </a:spcBef>
            </a:pPr>
            <a:r>
              <a:rPr lang="en-US" b="true" sz="11249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40</a:t>
            </a:r>
          </a:p>
        </p:txBody>
      </p:sp>
    </p:spTree>
  </p:cSld>
  <p:clrMapOvr>
    <a:masterClrMapping/>
  </p:clrMapOvr>
  <p:transition spd="fast">
    <p:fade/>
  </p:transition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72376" y="2941061"/>
            <a:ext cx="194324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Árvore Inicial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3493371" y="3568255"/>
            <a:ext cx="11301259" cy="3672909"/>
          </a:xfrm>
          <a:custGeom>
            <a:avLst/>
            <a:gdLst/>
            <a:ahLst/>
            <a:cxnLst/>
            <a:rect r="r" b="b" t="t" l="l"/>
            <a:pathLst>
              <a:path h="3672909" w="11301259">
                <a:moveTo>
                  <a:pt x="0" y="0"/>
                </a:moveTo>
                <a:lnTo>
                  <a:pt x="11301258" y="0"/>
                </a:lnTo>
                <a:lnTo>
                  <a:pt x="11301258" y="3672909"/>
                </a:lnTo>
                <a:lnTo>
                  <a:pt x="0" y="36729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41</a:t>
            </a:r>
          </a:p>
        </p:txBody>
      </p:sp>
    </p:spTree>
  </p:cSld>
  <p:clrMapOvr>
    <a:masterClrMapping/>
  </p:clrMapOvr>
  <p:transition spd="fast">
    <p:fade/>
  </p:transition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3493371" y="3568255"/>
            <a:ext cx="11301259" cy="3672909"/>
          </a:xfrm>
          <a:custGeom>
            <a:avLst/>
            <a:gdLst/>
            <a:ahLst/>
            <a:cxnLst/>
            <a:rect r="r" b="b" t="t" l="l"/>
            <a:pathLst>
              <a:path h="3672909" w="11301259">
                <a:moveTo>
                  <a:pt x="0" y="0"/>
                </a:moveTo>
                <a:lnTo>
                  <a:pt x="11301258" y="0"/>
                </a:lnTo>
                <a:lnTo>
                  <a:pt x="11301258" y="3672909"/>
                </a:lnTo>
                <a:lnTo>
                  <a:pt x="0" y="36729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489254" y="2951396"/>
            <a:ext cx="330949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100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42</a:t>
            </a:r>
          </a:p>
        </p:txBody>
      </p:sp>
    </p:spTree>
  </p:cSld>
  <p:clrMapOvr>
    <a:masterClrMapping/>
  </p:clrMapOvr>
  <p:transition spd="fast">
    <p:fade/>
  </p:transition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586173"/>
            <a:ext cx="11301259" cy="3644656"/>
          </a:xfrm>
          <a:custGeom>
            <a:avLst/>
            <a:gdLst/>
            <a:ahLst/>
            <a:cxnLst/>
            <a:rect r="r" b="b" t="t" l="l"/>
            <a:pathLst>
              <a:path h="3644656" w="11301259">
                <a:moveTo>
                  <a:pt x="0" y="0"/>
                </a:moveTo>
                <a:lnTo>
                  <a:pt x="11301258" y="0"/>
                </a:lnTo>
                <a:lnTo>
                  <a:pt x="11301258" y="3644656"/>
                </a:lnTo>
                <a:lnTo>
                  <a:pt x="0" y="36446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489254" y="2951396"/>
            <a:ext cx="330949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100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43</a:t>
            </a:r>
          </a:p>
        </p:txBody>
      </p:sp>
    </p:spTree>
  </p:cSld>
  <p:clrMapOvr>
    <a:masterClrMapping/>
  </p:clrMapOvr>
  <p:transition spd="fast">
    <p:fade/>
  </p:transition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586173"/>
            <a:ext cx="11301259" cy="3644656"/>
          </a:xfrm>
          <a:custGeom>
            <a:avLst/>
            <a:gdLst/>
            <a:ahLst/>
            <a:cxnLst/>
            <a:rect r="r" b="b" t="t" l="l"/>
            <a:pathLst>
              <a:path h="3644656" w="11301259">
                <a:moveTo>
                  <a:pt x="0" y="0"/>
                </a:moveTo>
                <a:lnTo>
                  <a:pt x="11301258" y="0"/>
                </a:lnTo>
                <a:lnTo>
                  <a:pt x="11301258" y="3644656"/>
                </a:lnTo>
                <a:lnTo>
                  <a:pt x="0" y="36446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489254" y="2951396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90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44</a:t>
            </a:r>
          </a:p>
        </p:txBody>
      </p:sp>
    </p:spTree>
  </p:cSld>
  <p:clrMapOvr>
    <a:masterClrMapping/>
  </p:clrMapOvr>
  <p:transition spd="fast">
    <p:fade/>
  </p:transition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577553"/>
            <a:ext cx="11301259" cy="3672909"/>
          </a:xfrm>
          <a:custGeom>
            <a:avLst/>
            <a:gdLst/>
            <a:ahLst/>
            <a:cxnLst/>
            <a:rect r="r" b="b" t="t" l="l"/>
            <a:pathLst>
              <a:path h="3672909" w="11301259">
                <a:moveTo>
                  <a:pt x="0" y="0"/>
                </a:moveTo>
                <a:lnTo>
                  <a:pt x="11301258" y="0"/>
                </a:lnTo>
                <a:lnTo>
                  <a:pt x="11301258" y="3672910"/>
                </a:lnTo>
                <a:lnTo>
                  <a:pt x="0" y="36729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88063" y="2931762"/>
            <a:ext cx="4511873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90 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(rotação)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45</a:t>
            </a:r>
          </a:p>
        </p:txBody>
      </p:sp>
    </p:spTree>
  </p:cSld>
  <p:clrMapOvr>
    <a:masterClrMapping/>
  </p:clrMapOvr>
  <p:transition spd="fast">
    <p:fade/>
  </p:transition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577553"/>
            <a:ext cx="11301259" cy="3672909"/>
          </a:xfrm>
          <a:custGeom>
            <a:avLst/>
            <a:gdLst/>
            <a:ahLst/>
            <a:cxnLst/>
            <a:rect r="r" b="b" t="t" l="l"/>
            <a:pathLst>
              <a:path h="3672909" w="11301259">
                <a:moveTo>
                  <a:pt x="0" y="0"/>
                </a:moveTo>
                <a:lnTo>
                  <a:pt x="11301258" y="0"/>
                </a:lnTo>
                <a:lnTo>
                  <a:pt x="11301258" y="3672910"/>
                </a:lnTo>
                <a:lnTo>
                  <a:pt x="0" y="36729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2947033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10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46</a:t>
            </a:r>
          </a:p>
        </p:txBody>
      </p:sp>
    </p:spTree>
  </p:cSld>
  <p:clrMapOvr>
    <a:masterClrMapping/>
  </p:clrMapOvr>
  <p:transition spd="fast">
    <p:fade/>
  </p:transition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553869"/>
            <a:ext cx="11301259" cy="3687036"/>
          </a:xfrm>
          <a:custGeom>
            <a:avLst/>
            <a:gdLst/>
            <a:ahLst/>
            <a:cxnLst/>
            <a:rect r="r" b="b" t="t" l="l"/>
            <a:pathLst>
              <a:path h="3687036" w="11301259">
                <a:moveTo>
                  <a:pt x="0" y="0"/>
                </a:moveTo>
                <a:lnTo>
                  <a:pt x="11301258" y="0"/>
                </a:lnTo>
                <a:lnTo>
                  <a:pt x="11301258" y="3687036"/>
                </a:lnTo>
                <a:lnTo>
                  <a:pt x="0" y="3687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2941320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10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47</a:t>
            </a:r>
          </a:p>
        </p:txBody>
      </p:sp>
    </p:spTree>
  </p:cSld>
  <p:clrMapOvr>
    <a:masterClrMapping/>
  </p:clrMapOvr>
  <p:transition spd="fast">
    <p:fade/>
  </p:transition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553869"/>
            <a:ext cx="11301259" cy="3687036"/>
          </a:xfrm>
          <a:custGeom>
            <a:avLst/>
            <a:gdLst/>
            <a:ahLst/>
            <a:cxnLst/>
            <a:rect r="r" b="b" t="t" l="l"/>
            <a:pathLst>
              <a:path h="3687036" w="11301259">
                <a:moveTo>
                  <a:pt x="0" y="0"/>
                </a:moveTo>
                <a:lnTo>
                  <a:pt x="11301258" y="0"/>
                </a:lnTo>
                <a:lnTo>
                  <a:pt x="11301258" y="3687036"/>
                </a:lnTo>
                <a:lnTo>
                  <a:pt x="0" y="3687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2941320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20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48</a:t>
            </a:r>
          </a:p>
        </p:txBody>
      </p:sp>
    </p:spTree>
  </p:cSld>
  <p:clrMapOvr>
    <a:masterClrMapping/>
  </p:clrMapOvr>
  <p:transition spd="fast">
    <p:fade/>
  </p:transition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531333"/>
            <a:ext cx="11301259" cy="3771795"/>
          </a:xfrm>
          <a:custGeom>
            <a:avLst/>
            <a:gdLst/>
            <a:ahLst/>
            <a:cxnLst/>
            <a:rect r="r" b="b" t="t" l="l"/>
            <a:pathLst>
              <a:path h="3771795" w="11301259">
                <a:moveTo>
                  <a:pt x="0" y="0"/>
                </a:moveTo>
                <a:lnTo>
                  <a:pt x="11301258" y="0"/>
                </a:lnTo>
                <a:lnTo>
                  <a:pt x="11301258" y="3771795"/>
                </a:lnTo>
                <a:lnTo>
                  <a:pt x="0" y="37717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88063" y="2879097"/>
            <a:ext cx="4511873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20 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(rotação)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49</a:t>
            </a:r>
          </a:p>
        </p:txBody>
      </p:sp>
    </p:spTree>
  </p:cSld>
  <p:clrMapOvr>
    <a:masterClrMapping/>
  </p:clrMapOvr>
  <p:transition spd="fast">
    <p:fade/>
  </p:transition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531333"/>
            <a:ext cx="11301259" cy="3771795"/>
          </a:xfrm>
          <a:custGeom>
            <a:avLst/>
            <a:gdLst/>
            <a:ahLst/>
            <a:cxnLst/>
            <a:rect r="r" b="b" t="t" l="l"/>
            <a:pathLst>
              <a:path h="3771795" w="11301259">
                <a:moveTo>
                  <a:pt x="0" y="0"/>
                </a:moveTo>
                <a:lnTo>
                  <a:pt x="11301258" y="0"/>
                </a:lnTo>
                <a:lnTo>
                  <a:pt x="11301258" y="3771795"/>
                </a:lnTo>
                <a:lnTo>
                  <a:pt x="0" y="37717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2863826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40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50</a:t>
            </a:r>
          </a:p>
        </p:txBody>
      </p:sp>
    </p:spTree>
  </p:cSld>
  <p:clrMapOvr>
    <a:masterClrMapping/>
  </p:clrMapOvr>
  <p:transition spd="fast">
    <p:fade/>
  </p:transition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325153"/>
            <a:ext cx="11301259" cy="4139086"/>
          </a:xfrm>
          <a:custGeom>
            <a:avLst/>
            <a:gdLst/>
            <a:ahLst/>
            <a:cxnLst/>
            <a:rect r="r" b="b" t="t" l="l"/>
            <a:pathLst>
              <a:path h="4139086" w="11301259">
                <a:moveTo>
                  <a:pt x="0" y="0"/>
                </a:moveTo>
                <a:lnTo>
                  <a:pt x="11301258" y="0"/>
                </a:lnTo>
                <a:lnTo>
                  <a:pt x="11301258" y="4139086"/>
                </a:lnTo>
                <a:lnTo>
                  <a:pt x="0" y="41390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2717986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40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51</a:t>
            </a:r>
          </a:p>
        </p:txBody>
      </p:sp>
    </p:spTree>
  </p:cSld>
  <p:clrMapOvr>
    <a:masterClrMapping/>
  </p:clrMapOvr>
  <p:transition spd="fast">
    <p:fade/>
  </p:transition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325153"/>
            <a:ext cx="11301259" cy="4139086"/>
          </a:xfrm>
          <a:custGeom>
            <a:avLst/>
            <a:gdLst/>
            <a:ahLst/>
            <a:cxnLst/>
            <a:rect r="r" b="b" t="t" l="l"/>
            <a:pathLst>
              <a:path h="4139086" w="11301259">
                <a:moveTo>
                  <a:pt x="0" y="0"/>
                </a:moveTo>
                <a:lnTo>
                  <a:pt x="11301258" y="0"/>
                </a:lnTo>
                <a:lnTo>
                  <a:pt x="11301258" y="4139086"/>
                </a:lnTo>
                <a:lnTo>
                  <a:pt x="0" y="41390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2717986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60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52</a:t>
            </a:r>
          </a:p>
        </p:txBody>
      </p:sp>
    </p:spTree>
  </p:cSld>
  <p:clrMapOvr>
    <a:masterClrMapping/>
  </p:clrMapOvr>
  <p:transition spd="fast">
    <p:fade/>
  </p:transition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311125"/>
            <a:ext cx="11301259" cy="4153213"/>
          </a:xfrm>
          <a:custGeom>
            <a:avLst/>
            <a:gdLst/>
            <a:ahLst/>
            <a:cxnLst/>
            <a:rect r="r" b="b" t="t" l="l"/>
            <a:pathLst>
              <a:path h="4153213" w="11301259">
                <a:moveTo>
                  <a:pt x="0" y="0"/>
                </a:moveTo>
                <a:lnTo>
                  <a:pt x="11301258" y="0"/>
                </a:lnTo>
                <a:lnTo>
                  <a:pt x="11301258" y="4153213"/>
                </a:lnTo>
                <a:lnTo>
                  <a:pt x="0" y="41532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2717887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60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53</a:t>
            </a:r>
          </a:p>
        </p:txBody>
      </p:sp>
    </p:spTree>
  </p:cSld>
  <p:clrMapOvr>
    <a:masterClrMapping/>
  </p:clrMapOvr>
  <p:transition spd="fast">
    <p:fade/>
  </p:transition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3371" y="3311125"/>
            <a:ext cx="11301259" cy="4153213"/>
          </a:xfrm>
          <a:custGeom>
            <a:avLst/>
            <a:gdLst/>
            <a:ahLst/>
            <a:cxnLst/>
            <a:rect r="r" b="b" t="t" l="l"/>
            <a:pathLst>
              <a:path h="4153213" w="11301259">
                <a:moveTo>
                  <a:pt x="0" y="0"/>
                </a:moveTo>
                <a:lnTo>
                  <a:pt x="11301258" y="0"/>
                </a:lnTo>
                <a:lnTo>
                  <a:pt x="11301258" y="4153213"/>
                </a:lnTo>
                <a:lnTo>
                  <a:pt x="0" y="41532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2717887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50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54</a:t>
            </a:r>
          </a:p>
        </p:txBody>
      </p:sp>
    </p:spTree>
  </p:cSld>
  <p:clrMapOvr>
    <a:masterClrMapping/>
  </p:clrMapOvr>
  <p:transition spd="fast">
    <p:fade/>
  </p:transition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99180" y="3932626"/>
            <a:ext cx="10889640" cy="2947935"/>
          </a:xfrm>
          <a:custGeom>
            <a:avLst/>
            <a:gdLst/>
            <a:ahLst/>
            <a:cxnLst/>
            <a:rect r="r" b="b" t="t" l="l"/>
            <a:pathLst>
              <a:path h="2947935" w="10889640">
                <a:moveTo>
                  <a:pt x="0" y="0"/>
                </a:moveTo>
                <a:lnTo>
                  <a:pt x="10889640" y="0"/>
                </a:lnTo>
                <a:lnTo>
                  <a:pt x="10889640" y="2947935"/>
                </a:lnTo>
                <a:lnTo>
                  <a:pt x="0" y="294793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3301664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50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55</a:t>
            </a:r>
          </a:p>
        </p:txBody>
      </p:sp>
    </p:spTree>
  </p:cSld>
  <p:clrMapOvr>
    <a:masterClrMapping/>
  </p:clrMapOvr>
  <p:transition spd="fast">
    <p:fade/>
  </p:transition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99180" y="3932626"/>
            <a:ext cx="10889640" cy="2947935"/>
          </a:xfrm>
          <a:custGeom>
            <a:avLst/>
            <a:gdLst/>
            <a:ahLst/>
            <a:cxnLst/>
            <a:rect r="r" b="b" t="t" l="l"/>
            <a:pathLst>
              <a:path h="2947935" w="10889640">
                <a:moveTo>
                  <a:pt x="0" y="0"/>
                </a:moveTo>
                <a:lnTo>
                  <a:pt x="10889640" y="0"/>
                </a:lnTo>
                <a:lnTo>
                  <a:pt x="10889640" y="2947935"/>
                </a:lnTo>
                <a:lnTo>
                  <a:pt x="0" y="294793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3301664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80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56</a:t>
            </a:r>
          </a:p>
        </p:txBody>
      </p:sp>
    </p:spTree>
  </p:cSld>
  <p:clrMapOvr>
    <a:masterClrMapping/>
  </p:clrMapOvr>
  <p:transition spd="fast">
    <p:fade/>
  </p:transition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96750" y="3819780"/>
            <a:ext cx="7094499" cy="3165238"/>
          </a:xfrm>
          <a:custGeom>
            <a:avLst/>
            <a:gdLst/>
            <a:ahLst/>
            <a:cxnLst/>
            <a:rect r="r" b="b" t="t" l="l"/>
            <a:pathLst>
              <a:path h="3165238" w="7094499">
                <a:moveTo>
                  <a:pt x="0" y="0"/>
                </a:moveTo>
                <a:lnTo>
                  <a:pt x="7094500" y="0"/>
                </a:lnTo>
                <a:lnTo>
                  <a:pt x="7094500" y="3165239"/>
                </a:lnTo>
                <a:lnTo>
                  <a:pt x="0" y="31652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3197206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80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57</a:t>
            </a:r>
          </a:p>
        </p:txBody>
      </p:sp>
    </p:spTree>
  </p:cSld>
  <p:clrMapOvr>
    <a:masterClrMapping/>
  </p:clrMapOvr>
  <p:transition spd="fast">
    <p:fade/>
  </p:transition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596750" y="3819780"/>
            <a:ext cx="7094499" cy="3165238"/>
          </a:xfrm>
          <a:custGeom>
            <a:avLst/>
            <a:gdLst/>
            <a:ahLst/>
            <a:cxnLst/>
            <a:rect r="r" b="b" t="t" l="l"/>
            <a:pathLst>
              <a:path h="3165238" w="7094499">
                <a:moveTo>
                  <a:pt x="0" y="0"/>
                </a:moveTo>
                <a:lnTo>
                  <a:pt x="7094500" y="0"/>
                </a:lnTo>
                <a:lnTo>
                  <a:pt x="7094500" y="3165239"/>
                </a:lnTo>
                <a:lnTo>
                  <a:pt x="0" y="31652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3197206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70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58</a:t>
            </a:r>
          </a:p>
        </p:txBody>
      </p:sp>
    </p:spTree>
  </p:cSld>
  <p:clrMapOvr>
    <a:masterClrMapping/>
  </p:clrMapOvr>
  <p:transition spd="fast">
    <p:fade/>
  </p:transition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260131" y="4351203"/>
            <a:ext cx="3767738" cy="2108551"/>
          </a:xfrm>
          <a:custGeom>
            <a:avLst/>
            <a:gdLst/>
            <a:ahLst/>
            <a:cxnLst/>
            <a:rect r="r" b="b" t="t" l="l"/>
            <a:pathLst>
              <a:path h="2108551" w="3767738">
                <a:moveTo>
                  <a:pt x="0" y="0"/>
                </a:moveTo>
                <a:lnTo>
                  <a:pt x="3767738" y="0"/>
                </a:lnTo>
                <a:lnTo>
                  <a:pt x="3767738" y="2108550"/>
                </a:lnTo>
                <a:lnTo>
                  <a:pt x="0" y="21085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559868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Remoção: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571780" y="3722472"/>
            <a:ext cx="3144441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Removendo o valor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70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884328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59</a:t>
            </a:r>
          </a:p>
        </p:txBody>
      </p:sp>
    </p:spTree>
  </p:cSld>
  <p:clrMapOvr>
    <a:masterClrMapping/>
  </p:clrMapOvr>
  <p:transition spd="fast">
    <p:fade/>
  </p:transition>
</p:sld>
</file>

<file path=ppt/slides/slide62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60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287167" y="2867020"/>
            <a:ext cx="11713666" cy="4124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49"/>
              </a:lnSpc>
            </a:pPr>
            <a:r>
              <a:rPr lang="en-US" sz="11249" b="true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Busca em Intervalo </a:t>
            </a:r>
          </a:p>
          <a:p>
            <a:pPr algn="ctr">
              <a:lnSpc>
                <a:spcPts val="15749"/>
              </a:lnSpc>
              <a:spcBef>
                <a:spcPct val="0"/>
              </a:spcBef>
            </a:pPr>
            <a:r>
              <a:rPr lang="en-US" b="true" sz="11249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(Range Query)</a:t>
            </a:r>
          </a:p>
        </p:txBody>
      </p:sp>
    </p:spTree>
  </p:cSld>
  <p:clrMapOvr>
    <a:masterClrMapping/>
  </p:clrMapOvr>
  <p:transition spd="fast">
    <p:fade/>
  </p:transition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011576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61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3123902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Busca em Intervalo: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250454" y="3381697"/>
            <a:ext cx="15787092" cy="4084910"/>
          </a:xfrm>
          <a:custGeom>
            <a:avLst/>
            <a:gdLst/>
            <a:ahLst/>
            <a:cxnLst/>
            <a:rect r="r" b="b" t="t" l="l"/>
            <a:pathLst>
              <a:path h="4084910" w="15787092">
                <a:moveTo>
                  <a:pt x="0" y="0"/>
                </a:moveTo>
                <a:lnTo>
                  <a:pt x="15787092" y="0"/>
                </a:lnTo>
                <a:lnTo>
                  <a:pt x="15787092" y="4084911"/>
                </a:lnTo>
                <a:lnTo>
                  <a:pt x="0" y="40849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5" id="5"/>
          <p:cNvSpPr txBox="true"/>
          <p:nvPr/>
        </p:nvSpPr>
        <p:spPr>
          <a:xfrm rot="0">
            <a:off x="7161312" y="2715617"/>
            <a:ext cx="3965377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Queremos o intervalo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[7, 25]</a:t>
            </a:r>
          </a:p>
        </p:txBody>
      </p:sp>
    </p:spTree>
  </p:cSld>
  <p:clrMapOvr>
    <a:masterClrMapping/>
  </p:clrMapOvr>
  <p:transition spd="fast">
    <p:fade/>
  </p:transition>
</p:sld>
</file>

<file path=ppt/slides/slide64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62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958036" y="3862383"/>
            <a:ext cx="6371927" cy="213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49"/>
              </a:lnSpc>
              <a:spcBef>
                <a:spcPct val="0"/>
              </a:spcBef>
            </a:pPr>
            <a:r>
              <a:rPr lang="en-US" b="true" sz="11249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Aplicações</a:t>
            </a:r>
          </a:p>
        </p:txBody>
      </p:sp>
    </p:spTree>
  </p:cSld>
  <p:clrMapOvr>
    <a:masterClrMapping/>
  </p:clrMapOvr>
  <p:transition spd="fast">
    <p:fade/>
  </p:transition>
</p:sld>
</file>

<file path=ppt/slides/slide65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63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794272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Aplicações: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680915" y="5237670"/>
            <a:ext cx="12926169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ReiserFS, NSS, XFS, JFS, ReFS e BFS utilizam essa estrutura para indexação de metadados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472735" y="4429571"/>
            <a:ext cx="334253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Sistemas de Arquivos</a:t>
            </a:r>
          </a:p>
        </p:txBody>
      </p:sp>
    </p:spTree>
  </p:cSld>
  <p:clrMapOvr>
    <a:masterClrMapping/>
  </p:clrMapOvr>
  <p:transition spd="fast">
    <p:fade/>
  </p:transition>
</p:sld>
</file>

<file path=ppt/slides/slide6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274670" y="5318161"/>
            <a:ext cx="2457170" cy="1164261"/>
          </a:xfrm>
          <a:custGeom>
            <a:avLst/>
            <a:gdLst/>
            <a:ahLst/>
            <a:cxnLst/>
            <a:rect r="r" b="b" t="t" l="l"/>
            <a:pathLst>
              <a:path h="1164261" w="2457170">
                <a:moveTo>
                  <a:pt x="0" y="0"/>
                </a:moveTo>
                <a:lnTo>
                  <a:pt x="2457170" y="0"/>
                </a:lnTo>
                <a:lnTo>
                  <a:pt x="2457170" y="1164262"/>
                </a:lnTo>
                <a:lnTo>
                  <a:pt x="0" y="11642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139540" y="5693037"/>
            <a:ext cx="3188543" cy="414511"/>
          </a:xfrm>
          <a:custGeom>
            <a:avLst/>
            <a:gdLst/>
            <a:ahLst/>
            <a:cxnLst/>
            <a:rect r="r" b="b" t="t" l="l"/>
            <a:pathLst>
              <a:path h="414511" w="3188543">
                <a:moveTo>
                  <a:pt x="0" y="0"/>
                </a:moveTo>
                <a:lnTo>
                  <a:pt x="3188543" y="0"/>
                </a:lnTo>
                <a:lnTo>
                  <a:pt x="3188543" y="414510"/>
                </a:lnTo>
                <a:lnTo>
                  <a:pt x="0" y="4145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739086" y="5451713"/>
            <a:ext cx="3262396" cy="897159"/>
          </a:xfrm>
          <a:custGeom>
            <a:avLst/>
            <a:gdLst/>
            <a:ahLst/>
            <a:cxnLst/>
            <a:rect r="r" b="b" t="t" l="l"/>
            <a:pathLst>
              <a:path h="897159" w="3262396">
                <a:moveTo>
                  <a:pt x="0" y="0"/>
                </a:moveTo>
                <a:lnTo>
                  <a:pt x="3262395" y="0"/>
                </a:lnTo>
                <a:lnTo>
                  <a:pt x="3262395" y="897158"/>
                </a:lnTo>
                <a:lnTo>
                  <a:pt x="0" y="8971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411056" y="5252373"/>
            <a:ext cx="1602274" cy="1295839"/>
          </a:xfrm>
          <a:custGeom>
            <a:avLst/>
            <a:gdLst/>
            <a:ahLst/>
            <a:cxnLst/>
            <a:rect r="r" b="b" t="t" l="l"/>
            <a:pathLst>
              <a:path h="1295839" w="1602274">
                <a:moveTo>
                  <a:pt x="0" y="0"/>
                </a:moveTo>
                <a:lnTo>
                  <a:pt x="1602274" y="0"/>
                </a:lnTo>
                <a:lnTo>
                  <a:pt x="1602274" y="1295838"/>
                </a:lnTo>
                <a:lnTo>
                  <a:pt x="0" y="12958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64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904875"/>
            <a:ext cx="1794272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Aplicações: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93654" y="4423063"/>
            <a:ext cx="10300692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IBM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Db2, Informix, Microsoft SQL Server, Oracle, Sybase ASE e SQLite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794427" y="3614964"/>
            <a:ext cx="269914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Bancos de Dados</a:t>
            </a:r>
          </a:p>
        </p:txBody>
      </p:sp>
    </p:spTree>
  </p:cSld>
  <p:clrMapOvr>
    <a:masterClrMapping/>
  </p:clrMapOvr>
  <p:transition spd="fast">
    <p:fade/>
  </p:transition>
</p:sld>
</file>

<file path=ppt/slides/slide67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65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794272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Aplicações: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741688" y="5238051"/>
            <a:ext cx="1080462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Adotada em sistemas de memória de acesso aleatório não volátil (NVRAM)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451527" y="4429189"/>
            <a:ext cx="338494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Memoria Não Volátil</a:t>
            </a:r>
          </a:p>
        </p:txBody>
      </p:sp>
    </p:spTree>
  </p:cSld>
  <p:clrMapOvr>
    <a:masterClrMapping/>
  </p:clrMapOvr>
  <p:transition spd="fast">
    <p:fade/>
  </p:transition>
</p:sld>
</file>

<file path=ppt/slides/slide68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66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226671" y="3862383"/>
            <a:ext cx="5834658" cy="213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49"/>
              </a:lnSpc>
              <a:spcBef>
                <a:spcPct val="0"/>
              </a:spcBef>
            </a:pPr>
            <a:r>
              <a:rPr lang="en-US" b="true" sz="11249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Exemplos</a:t>
            </a:r>
          </a:p>
        </p:txBody>
      </p:sp>
    </p:spTree>
  </p:cSld>
  <p:clrMapOvr>
    <a:masterClrMapping/>
  </p:clrMapOvr>
  <p:transition spd="fast">
    <p:fade/>
  </p:transition>
</p:sld>
</file>

<file path=ppt/slides/slide69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929050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67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645593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Exemplos: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71663" y="3863554"/>
            <a:ext cx="13344674" cy="953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Exemplo 1 - Inserção com Split: 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Vamos inserir as chaves 1, 2, 3, 4, 5, 6 em uma árvore B+ vazia. </a:t>
            </a:r>
          </a:p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 estratégia preventiva divide qualquer nó com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3 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chaves antes de descer nele.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02048" y="5069626"/>
            <a:ext cx="15283904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Exemplo 2 - Remoção com Distribuição: 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Partindo da árvore final do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Ex. 1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removeremos as chaves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6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e depois 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833985" y="5822736"/>
            <a:ext cx="1262003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Exemplo 3 - Remoção com Fusão: </a:t>
            </a: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Partindo da árvore final do Ex. 2 removeremos a chave</a:t>
            </a:r>
            <a:r>
              <a:rPr lang="en-US" b="true" sz="26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3</a:t>
            </a:r>
          </a:p>
        </p:txBody>
      </p:sp>
    </p:spTree>
  </p:cSld>
  <p:clrMapOvr>
    <a:masterClrMapping/>
  </p:clrMapOvr>
  <p:transition spd="fast">
    <p:fade/>
  </p:transition>
</p:sld>
</file>

<file path=ppt/slides/slide70.xml><?xml version="1.0" encoding="utf-8"?>
<p:sld xmlns:p="http://schemas.openxmlformats.org/presentationml/2006/main" xmlns:a="http://schemas.openxmlformats.org/drawingml/2006/main">
  <p:cSld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011576" y="8762365"/>
            <a:ext cx="330250" cy="495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68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904875"/>
            <a:ext cx="1924943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Referências: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589213"/>
            <a:ext cx="13797707" cy="387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Bay</a:t>
            </a: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er, R. and McCreight, E. M. (1972). Organization and maintenance of large ordered indices. Acta Informatica, 1(3):173–189.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100388"/>
            <a:ext cx="12448729" cy="387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K</a:t>
            </a: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nuth, D. E. (1998). The Art of Computer Programming, Vol. 3: Sorting and Searching. Addison-Wesley, 2 edition.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611563"/>
            <a:ext cx="8910489" cy="387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Comer</a:t>
            </a: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, D. (1979). The ubiquitous B-tree. ACM Computing Surveys, 11(2):121–137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4122738"/>
            <a:ext cx="15828615" cy="387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Apple</a:t>
            </a: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Inc. (2020). Apple File System Reference. Dispon´ıvel em: https://developer.apple.com/support/downloads/ Apple-File-System-Reference.pdf.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4633912"/>
            <a:ext cx="16230600" cy="1092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Dharamjeet, Chen,</a:t>
            </a: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T.-Y., Chang, Y.-H., Wu, C.-F., Lee, C.-H., and Shih, W.-K. (2021). Beyond write-reduction consideration: A wear-leveling-enabled B+-tree indexing scheme over an NVRAM-based architecture. IEEE Transactions on Computer-Aided Design of Integrated Circuits and Systems, 40(12):2455–2466.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5849937"/>
            <a:ext cx="16230600" cy="387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Giamp</a:t>
            </a: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aolo, D. (1999). Practical File System Design with the Be File System. Morgan Kaufmann.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6361112"/>
            <a:ext cx="16230600" cy="739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Jag</a:t>
            </a: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adish, H. V., Ooi, B. C., Tan, K.-L., Yu, C., and Zhang, R. (2005). iDistance: An adaptive B+-tree based indexing method for nearest neighbor search. ACM Transactions on Database Systems, 30(2):364–397.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7224712"/>
            <a:ext cx="16230600" cy="387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Ram</a:t>
            </a:r>
            <a:r>
              <a:rPr lang="en-US" sz="200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akrishnan, R. and Gehrke, J. (2003). Database Management Systems. McGraw-Hill, 3 edition.</a:t>
            </a: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DAHMk6BmvrQ</dc:identifier>
  <dcterms:modified xsi:type="dcterms:W3CDTF">2011-08-01T06:04:30Z</dcterms:modified>
  <cp:revision>1</cp:revision>
  <dc:title>Árvores B+</dc:title>
</cp:coreProperties>
</file>